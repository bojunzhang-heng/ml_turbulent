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70" r:id="rId3"/>
    <p:sldId id="281" r:id="rId4"/>
    <p:sldId id="284" r:id="rId5"/>
    <p:sldId id="283" r:id="rId6"/>
    <p:sldId id="285" r:id="rId7"/>
  </p:sldIdLst>
  <p:sldSz cx="12192000" cy="6858000"/>
  <p:notesSz cx="7104063" cy="10234613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B7B3"/>
    <a:srgbClr val="003F43"/>
    <a:srgbClr val="2B74CB"/>
    <a:srgbClr val="B2B2B2"/>
    <a:srgbClr val="202020"/>
    <a:srgbClr val="323232"/>
    <a:srgbClr val="CC3300"/>
    <a:srgbClr val="CC0000"/>
    <a:srgbClr val="FF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13" d="100"/>
          <a:sy n="113" d="100"/>
        </p:scale>
        <p:origin x="390" y="84"/>
      </p:cViewPr>
      <p:guideLst>
        <p:guide orient="horz" pos="219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5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5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5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5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5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5">
              <a:rPr lang="zh-CN" altLang="en-US" smtClean="0"/>
              <a:t>2025/12/2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5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5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2065" y="6311900"/>
            <a:ext cx="12299950" cy="546100"/>
          </a:xfrm>
          <a:prstGeom prst="rect">
            <a:avLst/>
          </a:prstGeom>
          <a:solidFill>
            <a:srgbClr val="2BB7B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LOGO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858375" y="5788025"/>
            <a:ext cx="2429510" cy="1717040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0" y="982345"/>
            <a:ext cx="9350375" cy="0"/>
          </a:xfrm>
          <a:prstGeom prst="line">
            <a:avLst/>
          </a:prstGeom>
          <a:ln w="31750" cap="rnd">
            <a:solidFill>
              <a:srgbClr val="003F43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灯片编号占位符 5"/>
          <p:cNvSpPr>
            <a:spLocks noGrp="1"/>
          </p:cNvSpPr>
          <p:nvPr userDrawn="1">
            <p:custDataLst>
              <p:tags r:id="rId12"/>
            </p:custDataLst>
          </p:nvPr>
        </p:nvSpPr>
        <p:spPr>
          <a:xfrm>
            <a:off x="-12065" y="6492875"/>
            <a:ext cx="5022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zh-CN" altLang="en-US" sz="2000" smtClean="0">
                <a:solidFill>
                  <a:srgbClr val="003F43"/>
                </a:solidFill>
              </a:rPr>
              <a:t>‹#›</a:t>
            </a:fld>
            <a:endParaRPr lang="zh-CN" altLang="en-US" sz="2000">
              <a:solidFill>
                <a:srgbClr val="003F43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75260" y="1662430"/>
            <a:ext cx="12542520" cy="2542540"/>
          </a:xfrm>
          <a:prstGeom prst="rect">
            <a:avLst/>
          </a:prstGeom>
          <a:solidFill>
            <a:srgbClr val="003F4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effectLst/>
              </a:rPr>
              <a:t>工作汇报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47650" y="5213350"/>
            <a:ext cx="26225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张博钧</a:t>
            </a:r>
          </a:p>
          <a:p>
            <a:r>
              <a:rPr lang="en-US" altLang="zh-CN" sz="2400" dirty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2025/12/02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260350" y="113665"/>
            <a:ext cx="11931650" cy="1296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800" dirty="0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目录</a:t>
            </a:r>
            <a:endParaRPr lang="en-US" altLang="zh-CN" sz="4800" dirty="0">
              <a:latin typeface="Times New Roman Regular" panose="02020503050405090304" charset="0"/>
              <a:ea typeface="宋体" charset="0"/>
              <a:cs typeface="Times New Roman Regular" panose="02020503050405090304" charset="0"/>
              <a:sym typeface="+mn-ea"/>
            </a:endParaRPr>
          </a:p>
          <a:p>
            <a:r>
              <a:rPr lang="en-US" altLang="zh-CN" sz="4800" dirty="0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 </a:t>
            </a:r>
            <a:endParaRPr lang="en-US" altLang="zh-CN" sz="4800" dirty="0"/>
          </a:p>
        </p:txBody>
      </p:sp>
      <p:sp>
        <p:nvSpPr>
          <p:cNvPr id="8" name="文本框 7"/>
          <p:cNvSpPr txBox="1"/>
          <p:nvPr/>
        </p:nvSpPr>
        <p:spPr>
          <a:xfrm>
            <a:off x="1264979" y="1647537"/>
            <a:ext cx="86499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buFont typeface="Arial" panose="020B0604020202090204" pitchFamily="34" charset="0"/>
              <a:buChar char="•"/>
            </a:pPr>
            <a:r>
              <a:rPr lang="zh-CN" altLang="en-US" sz="4400" dirty="0">
                <a:latin typeface="Times New Roman Regular" panose="02020503050405090304" charset="0"/>
                <a:cs typeface="Times New Roman Regular" panose="02020503050405090304" charset="0"/>
              </a:rPr>
              <a:t>优化结果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260350" y="113665"/>
            <a:ext cx="11931650" cy="1296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800" dirty="0">
                <a:latin typeface="Times New Roman Regular" panose="02020503050405090304" charset="0"/>
                <a:cs typeface="Times New Roman Regular" panose="02020503050405090304" charset="0"/>
              </a:rPr>
              <a:t>优化结果</a:t>
            </a:r>
          </a:p>
          <a:p>
            <a:endParaRPr lang="en-US" altLang="zh-CN" sz="4800" dirty="0">
              <a:latin typeface="Times New Roman Regular" panose="02020503050405090304" charset="0"/>
              <a:ea typeface="宋体" charset="0"/>
              <a:cs typeface="Times New Roman Regular" panose="02020503050405090304" charset="0"/>
              <a:sym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01FFCA6-E12B-1B4D-7193-E64DA63D52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970042"/>
              </p:ext>
            </p:extLst>
          </p:nvPr>
        </p:nvGraphicFramePr>
        <p:xfrm>
          <a:off x="1608361" y="1927980"/>
          <a:ext cx="9289472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83">
                  <a:extLst>
                    <a:ext uri="{9D8B030D-6E8A-4147-A177-3AD203B41FA5}">
                      <a16:colId xmlns:a16="http://schemas.microsoft.com/office/drawing/2014/main" val="4250679641"/>
                    </a:ext>
                  </a:extLst>
                </a:gridCol>
                <a:gridCol w="1659687">
                  <a:extLst>
                    <a:ext uri="{9D8B030D-6E8A-4147-A177-3AD203B41FA5}">
                      <a16:colId xmlns:a16="http://schemas.microsoft.com/office/drawing/2014/main" val="1605219982"/>
                    </a:ext>
                  </a:extLst>
                </a:gridCol>
                <a:gridCol w="1629294">
                  <a:extLst>
                    <a:ext uri="{9D8B030D-6E8A-4147-A177-3AD203B41FA5}">
                      <a16:colId xmlns:a16="http://schemas.microsoft.com/office/drawing/2014/main" val="1490716099"/>
                    </a:ext>
                  </a:extLst>
                </a:gridCol>
                <a:gridCol w="2252750">
                  <a:extLst>
                    <a:ext uri="{9D8B030D-6E8A-4147-A177-3AD203B41FA5}">
                      <a16:colId xmlns:a16="http://schemas.microsoft.com/office/drawing/2014/main" val="2809627440"/>
                    </a:ext>
                  </a:extLst>
                </a:gridCol>
                <a:gridCol w="2684858">
                  <a:extLst>
                    <a:ext uri="{9D8B030D-6E8A-4147-A177-3AD203B41FA5}">
                      <a16:colId xmlns:a16="http://schemas.microsoft.com/office/drawing/2014/main" val="3154124750"/>
                    </a:ext>
                  </a:extLst>
                </a:gridCol>
              </a:tblGrid>
              <a:tr h="313224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模型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L2_error </a:t>
                      </a:r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压强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L2_error  </a:t>
                      </a:r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速度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训练单个样本时间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665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AB-UBT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0.128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0.145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1.82s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92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优化后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0.132(-)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0.148(-)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1.03s (40%)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9510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C95DCBBC-1074-DF19-F564-3707658E7603}"/>
              </a:ext>
            </a:extLst>
          </p:cNvPr>
          <p:cNvSpPr txBox="1"/>
          <p:nvPr/>
        </p:nvSpPr>
        <p:spPr>
          <a:xfrm>
            <a:off x="318407" y="1410335"/>
            <a:ext cx="2579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小样本 </a:t>
            </a:r>
            <a:r>
              <a:rPr lang="en-US" altLang="zh-CN" dirty="0"/>
              <a:t>87</a:t>
            </a:r>
            <a:r>
              <a:rPr lang="zh-CN" altLang="en-US" dirty="0"/>
              <a:t>个样本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6913D91-12AB-AF60-1BD1-9ED725EFF961}"/>
              </a:ext>
            </a:extLst>
          </p:cNvPr>
          <p:cNvCxnSpPr>
            <a:cxnSpLocks/>
          </p:cNvCxnSpPr>
          <p:nvPr/>
        </p:nvCxnSpPr>
        <p:spPr>
          <a:xfrm flipV="1">
            <a:off x="7189119" y="2692399"/>
            <a:ext cx="0" cy="275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4A4EE768-73B4-959D-7C0D-7740DF15D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723737"/>
              </p:ext>
            </p:extLst>
          </p:nvPr>
        </p:nvGraphicFramePr>
        <p:xfrm>
          <a:off x="1550306" y="4075790"/>
          <a:ext cx="880926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644">
                  <a:extLst>
                    <a:ext uri="{9D8B030D-6E8A-4147-A177-3AD203B41FA5}">
                      <a16:colId xmlns:a16="http://schemas.microsoft.com/office/drawing/2014/main" val="4250679641"/>
                    </a:ext>
                  </a:extLst>
                </a:gridCol>
                <a:gridCol w="1690007">
                  <a:extLst>
                    <a:ext uri="{9D8B030D-6E8A-4147-A177-3AD203B41FA5}">
                      <a16:colId xmlns:a16="http://schemas.microsoft.com/office/drawing/2014/main" val="1605219982"/>
                    </a:ext>
                  </a:extLst>
                </a:gridCol>
                <a:gridCol w="1787979">
                  <a:extLst>
                    <a:ext uri="{9D8B030D-6E8A-4147-A177-3AD203B41FA5}">
                      <a16:colId xmlns:a16="http://schemas.microsoft.com/office/drawing/2014/main" val="1490716099"/>
                    </a:ext>
                  </a:extLst>
                </a:gridCol>
                <a:gridCol w="2053317">
                  <a:extLst>
                    <a:ext uri="{9D8B030D-6E8A-4147-A177-3AD203B41FA5}">
                      <a16:colId xmlns:a16="http://schemas.microsoft.com/office/drawing/2014/main" val="2809627440"/>
                    </a:ext>
                  </a:extLst>
                </a:gridCol>
                <a:gridCol w="2053317">
                  <a:extLst>
                    <a:ext uri="{9D8B030D-6E8A-4147-A177-3AD203B41FA5}">
                      <a16:colId xmlns:a16="http://schemas.microsoft.com/office/drawing/2014/main" val="2733856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模型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L2_error </a:t>
                      </a:r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压强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L2_error  </a:t>
                      </a:r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速度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训练单个样本时间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过拟合率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665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AB-UBT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0.088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0.112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1.86s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1.23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92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优化后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0.105(20%)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0.125(10%)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1.05s (40%)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1.03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9510"/>
                  </a:ext>
                </a:extLst>
              </a:tr>
            </a:tbl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B10F09F8-60BC-240E-A85E-CA49BCB1E3B6}"/>
              </a:ext>
            </a:extLst>
          </p:cNvPr>
          <p:cNvSpPr txBox="1"/>
          <p:nvPr/>
        </p:nvSpPr>
        <p:spPr>
          <a:xfrm>
            <a:off x="260350" y="3558145"/>
            <a:ext cx="2579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大样本 </a:t>
            </a:r>
            <a:r>
              <a:rPr lang="en-US" altLang="zh-CN" dirty="0"/>
              <a:t>386</a:t>
            </a:r>
            <a:r>
              <a:rPr lang="zh-CN" altLang="en-US" dirty="0"/>
              <a:t>个样本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BEE8D63-3CB8-4789-E9DC-9FE1DD762DCC}"/>
              </a:ext>
            </a:extLst>
          </p:cNvPr>
          <p:cNvCxnSpPr>
            <a:cxnSpLocks/>
          </p:cNvCxnSpPr>
          <p:nvPr/>
        </p:nvCxnSpPr>
        <p:spPr>
          <a:xfrm>
            <a:off x="3981450" y="4882243"/>
            <a:ext cx="0" cy="306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52284D8-F6E1-3D9D-B22E-62D4C38886DA}"/>
              </a:ext>
            </a:extLst>
          </p:cNvPr>
          <p:cNvCxnSpPr>
            <a:cxnSpLocks/>
          </p:cNvCxnSpPr>
          <p:nvPr/>
        </p:nvCxnSpPr>
        <p:spPr>
          <a:xfrm>
            <a:off x="5709555" y="4882243"/>
            <a:ext cx="0" cy="317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D69D29B-7A21-0FC0-BD20-B0DE7740D14D}"/>
              </a:ext>
            </a:extLst>
          </p:cNvPr>
          <p:cNvCxnSpPr>
            <a:cxnSpLocks/>
          </p:cNvCxnSpPr>
          <p:nvPr/>
        </p:nvCxnSpPr>
        <p:spPr>
          <a:xfrm flipV="1">
            <a:off x="7477576" y="4822976"/>
            <a:ext cx="0" cy="306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40923257-2A38-A19F-8ADD-D66E15A55E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933" y="673330"/>
            <a:ext cx="6968883" cy="522870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29DCEE9-B3DE-22A3-24A7-F64079D86303}"/>
              </a:ext>
            </a:extLst>
          </p:cNvPr>
          <p:cNvSpPr/>
          <p:nvPr/>
        </p:nvSpPr>
        <p:spPr>
          <a:xfrm>
            <a:off x="4256117" y="3516283"/>
            <a:ext cx="3183774" cy="7398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396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260350" y="113665"/>
            <a:ext cx="11931650" cy="1296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800" dirty="0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改进思路</a:t>
            </a:r>
            <a:endParaRPr lang="en-US" altLang="zh-CN" sz="4800" dirty="0">
              <a:latin typeface="Times New Roman Regular" panose="02020503050405090304" charset="0"/>
              <a:ea typeface="宋体" charset="0"/>
              <a:cs typeface="Times New Roman Regular" panose="02020503050405090304" charset="0"/>
              <a:sym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705716B-367F-0A50-E6B0-602DF5DD1040}"/>
              </a:ext>
            </a:extLst>
          </p:cNvPr>
          <p:cNvSpPr txBox="1"/>
          <p:nvPr/>
        </p:nvSpPr>
        <p:spPr>
          <a:xfrm>
            <a:off x="506186" y="1477736"/>
            <a:ext cx="47026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目前的</a:t>
            </a:r>
            <a:r>
              <a:rPr lang="en-US" altLang="zh-CN" dirty="0"/>
              <a:t>attention</a:t>
            </a:r>
            <a:r>
              <a:rPr lang="zh-CN" altLang="en-US" dirty="0"/>
              <a:t>只有位置信息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将物理信息也嵌入进去，将</a:t>
            </a:r>
            <a:r>
              <a:rPr lang="en-US" altLang="zh-CN" dirty="0"/>
              <a:t>surface branch</a:t>
            </a:r>
            <a:r>
              <a:rPr lang="zh-CN" altLang="en-US" dirty="0"/>
              <a:t>的位置信息替换为物理信息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目前使用的解码器仅仅是线性层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查阅论文有没有更好的解码器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ED2D847-9C3F-E5AE-5973-78E84DEA7B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415" y="1252104"/>
            <a:ext cx="5519969" cy="4094717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8EE57127-B205-6921-8A90-7AB3A4CFFC32}"/>
              </a:ext>
            </a:extLst>
          </p:cNvPr>
          <p:cNvGrpSpPr/>
          <p:nvPr/>
        </p:nvGrpSpPr>
        <p:grpSpPr>
          <a:xfrm>
            <a:off x="177020" y="3299463"/>
            <a:ext cx="6219395" cy="2842728"/>
            <a:chOff x="177020" y="3299463"/>
            <a:chExt cx="6219395" cy="284272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953EB128-751B-72AF-419B-DAF7ABA3D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7020" y="3299463"/>
              <a:ext cx="6219395" cy="2842728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16D374E-6938-600D-D202-31442450DF5D}"/>
                </a:ext>
              </a:extLst>
            </p:cNvPr>
            <p:cNvSpPr/>
            <p:nvPr/>
          </p:nvSpPr>
          <p:spPr>
            <a:xfrm>
              <a:off x="3474720" y="5020572"/>
              <a:ext cx="1734095" cy="2012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AAD672-63C0-3DCE-D5B7-32782A714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解码器</a:t>
            </a:r>
            <a:endParaRPr lang="en-US" altLang="zh-CN" dirty="0"/>
          </a:p>
          <a:p>
            <a:pPr lvl="2"/>
            <a:r>
              <a:rPr lang="zh-CN" altLang="en-US" dirty="0"/>
              <a:t>改用卷积层</a:t>
            </a:r>
            <a:endParaRPr lang="en-US" altLang="zh-CN" dirty="0"/>
          </a:p>
          <a:p>
            <a:pPr lvl="2"/>
            <a:r>
              <a:rPr lang="en-US" altLang="zh-CN" dirty="0"/>
              <a:t>MLP</a:t>
            </a:r>
            <a:r>
              <a:rPr lang="zh-CN" altLang="en-US" dirty="0"/>
              <a:t>全连接，增加深度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Loss</a:t>
            </a:r>
          </a:p>
          <a:p>
            <a:pPr lvl="2"/>
            <a:r>
              <a:rPr lang="zh-CN" altLang="en-US" dirty="0"/>
              <a:t>将方程约束嵌入到损失函数中</a:t>
            </a:r>
            <a:endParaRPr lang="en-US" altLang="zh-CN" dirty="0"/>
          </a:p>
          <a:p>
            <a:pPr lvl="2"/>
            <a:r>
              <a:rPr lang="zh-CN" altLang="en-US" dirty="0"/>
              <a:t>连续性方程</a:t>
            </a:r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303865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QxOWY0NjUxZjY1NjkxMDM4NGZlMWJjZDlhZTM5Nm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135</Words>
  <Application>Microsoft Office PowerPoint</Application>
  <PresentationFormat>宽屏</PresentationFormat>
  <Paragraphs>50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Times New Roman Regular</vt:lpstr>
      <vt:lpstr>宋体</vt:lpstr>
      <vt:lpstr>Arial</vt:lpstr>
      <vt:lpstr>Calibri</vt:lpstr>
      <vt:lpstr>WPS</vt:lpstr>
      <vt:lpstr>工作汇报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博钧 张</cp:lastModifiedBy>
  <cp:revision>227</cp:revision>
  <dcterms:created xsi:type="dcterms:W3CDTF">2025-10-11T01:09:00Z</dcterms:created>
  <dcterms:modified xsi:type="dcterms:W3CDTF">2025-12-02T06:41:43Z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2052-6.11.0.8885</vt:lpwstr>
  </property>
  <property fmtid="{D5CDD505-2E9C-101B-9397-08002B2CF9AE}" pid="3" name="ICV">
    <vt:lpwstr>E3C652C6035AFC7218AFB76887E772E4_43</vt:lpwstr>
  </property>
</Properties>
</file>